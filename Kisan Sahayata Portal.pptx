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7" r:id="rId7"/>
    <p:sldId id="266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7EE"/>
    <a:srgbClr val="F9F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AAE267-A718-4AE8-92EB-BD07703E43F0}" v="2" dt="2025-12-03T16:53:37.5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 Rishitha" userId="7b5aa18e547cfe7d" providerId="LiveId" clId="{7C34B9EE-1C8F-49C7-AFF5-89350B23730D}"/>
    <pc:docChg chg="undo custSel modSld">
      <pc:chgData name="Sai Rishitha" userId="7b5aa18e547cfe7d" providerId="LiveId" clId="{7C34B9EE-1C8F-49C7-AFF5-89350B23730D}" dt="2025-12-03T16:54:15.556" v="101" actId="20577"/>
      <pc:docMkLst>
        <pc:docMk/>
      </pc:docMkLst>
      <pc:sldChg chg="addSp modSp mod">
        <pc:chgData name="Sai Rishitha" userId="7b5aa18e547cfe7d" providerId="LiveId" clId="{7C34B9EE-1C8F-49C7-AFF5-89350B23730D}" dt="2025-12-03T16:54:15.556" v="101" actId="20577"/>
        <pc:sldMkLst>
          <pc:docMk/>
          <pc:sldMk cId="1640951663" sldId="261"/>
        </pc:sldMkLst>
        <pc:spChg chg="add mod">
          <ac:chgData name="Sai Rishitha" userId="7b5aa18e547cfe7d" providerId="LiveId" clId="{7C34B9EE-1C8F-49C7-AFF5-89350B23730D}" dt="2025-12-03T16:53:33.118" v="34" actId="1076"/>
          <ac:spMkLst>
            <pc:docMk/>
            <pc:sldMk cId="1640951663" sldId="261"/>
            <ac:spMk id="13" creationId="{9BD160D0-C3C9-BB1D-84B4-73E64FD2FF15}"/>
          </ac:spMkLst>
        </pc:spChg>
        <pc:spChg chg="add mod">
          <ac:chgData name="Sai Rishitha" userId="7b5aa18e547cfe7d" providerId="LiveId" clId="{7C34B9EE-1C8F-49C7-AFF5-89350B23730D}" dt="2025-12-03T16:54:15.556" v="101" actId="20577"/>
          <ac:spMkLst>
            <pc:docMk/>
            <pc:sldMk cId="1640951663" sldId="261"/>
            <ac:spMk id="14" creationId="{4A4928EB-2FE5-758B-6E7E-9644B1231668}"/>
          </ac:spMkLst>
        </pc:spChg>
        <pc:picChg chg="mod">
          <ac:chgData name="Sai Rishitha" userId="7b5aa18e547cfe7d" providerId="LiveId" clId="{7C34B9EE-1C8F-49C7-AFF5-89350B23730D}" dt="2025-12-03T16:53:41.057" v="37" actId="1076"/>
          <ac:picMkLst>
            <pc:docMk/>
            <pc:sldMk cId="1640951663" sldId="261"/>
            <ac:picMk id="3" creationId="{34CCFA7E-9490-B7E1-8633-B60F4EE6B14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1AD1F-B7B2-A265-58E0-2ABAECA81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D37103-1822-BE88-B949-40C64E3E9D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69CFE-2296-01F0-FAE4-97DADE0A4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98392-BA30-4F0D-AB9C-AC773AC62D0B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3E989-F322-65B5-7A9B-711BAA53C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DE81A-D374-D31C-82F9-ACF1843DD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FC1F5-9492-45B8-BD2B-BCC6C80EC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6628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97BC8-D886-BC70-36A8-2466EDDE7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43098-B7E3-A2E8-EC4B-71B0DF46E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246BA-3E11-F7E4-09E7-B07DD06FC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98392-BA30-4F0D-AB9C-AC773AC62D0B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C816D-989A-2C95-E8D4-F8496A790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A09E2-55AD-6434-40AE-89972DABD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FC1F5-9492-45B8-BD2B-BCC6C80EC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587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D18CC-2B6F-8A30-A98D-6912E5922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9BB412-ADC4-287B-BE20-D314DE414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CE404-D225-04B6-E561-36BF82C1D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98392-BA30-4F0D-AB9C-AC773AC62D0B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BC07E9-68E4-76F7-D5AB-DA35C8810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61050-1156-256B-FDDC-7485260C8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FC1F5-9492-45B8-BD2B-BCC6C80EC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323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7E9B3-3C8B-D771-C007-D31B71A51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188C6-0FCE-6369-9165-4A66848390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9528FE-3E37-0A43-BF1F-04D32EA98B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B84368-5AC9-CEB7-C5F0-9C2435172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98392-BA30-4F0D-AB9C-AC773AC62D0B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DB0430-82F3-210F-C52B-175143261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784395-5738-F945-C371-C2A5CEACE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FC1F5-9492-45B8-BD2B-BCC6C80EC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1937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0A5CC-CBF9-E8B7-BCCB-0E3F4EC63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E17FCE-C0AD-B872-72D9-AE83B7D87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FEE5FA-7BE6-B501-AC4E-055E20857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33F4C3-3706-AE75-5E13-6E80608799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B4CD04-997E-08F9-AA27-5CFC2920A6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2DB23A-472E-5310-DFCE-BA9E46A54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98392-BA30-4F0D-AB9C-AC773AC62D0B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931CAA-5691-BAEA-345B-03913FCAD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3FAA2C-26DD-EE6E-7491-33BF920EB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FC1F5-9492-45B8-BD2B-BCC6C80EC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6884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B126A-CD82-C239-A4AB-D2D66FF0D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E57B4E-8B89-18D6-FABF-59DC6B6BF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98392-BA30-4F0D-AB9C-AC773AC62D0B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228BED-9023-5909-DE23-C9BAE956B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EAF1E1-3526-47DE-30BD-9A89D3C21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FC1F5-9492-45B8-BD2B-BCC6C80EC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1227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CF404A-E945-83F1-A131-ACD893555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98392-BA30-4F0D-AB9C-AC773AC62D0B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6908D9-3D81-D1E9-C21E-123A04FC1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AF91C9-DB7A-9A8A-CBDA-3666D09D3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FC1F5-9492-45B8-BD2B-BCC6C80EC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4493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9BFB9-C151-B401-99F7-6DF89A588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B4699-D280-4351-88F3-9E98A22FE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4B0D53-B7A5-6606-E336-974B7CE03D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0BBCC8-B984-7B3A-9E03-C73F82FDD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98392-BA30-4F0D-AB9C-AC773AC62D0B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7F7536-9461-8C38-55B1-62AB0CF67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38459-EDBD-6F5A-3DA0-2CE02C701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FC1F5-9492-45B8-BD2B-BCC6C80EC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1896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12722-387E-62B9-32DF-BF6BB8FCE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44EB16-AEE7-2EE7-30B6-A2EDB95EA3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6C70DF-9E88-579A-7583-2FA9F42762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231B9B-A030-A7DC-DDFB-D40686E43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98392-BA30-4F0D-AB9C-AC773AC62D0B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11CDB7-4559-F9F6-A476-ACFB4C689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8663B2-E4B2-6939-0100-E2A301294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FC1F5-9492-45B8-BD2B-BCC6C80EC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4287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6E167-F049-C266-D832-AE37ACC59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8EAA38-BC30-4597-9231-9143AD5DF4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977B7-FA50-28F2-7E58-FAA1400DE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98392-BA30-4F0D-AB9C-AC773AC62D0B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B559C-F764-3A15-0EBE-D6A555C6D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D241C-7F4A-8FFE-9BED-788065199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FC1F5-9492-45B8-BD2B-BCC6C80EC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647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5A1F0C-D1CF-DEAD-2EE8-3C743E4A18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6B8762-D0A0-BF7F-A81D-039EDD3030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6E8BB-43AE-8D29-799F-FDA840E5B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98392-BA30-4F0D-AB9C-AC773AC62D0B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A6936-03C9-A7BA-41AA-7D593EFFB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F6C43-79AE-2011-EE92-89A5FB44E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FC1F5-9492-45B8-BD2B-BCC6C80EC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27000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F8136-8B0F-D455-FF6C-1AF18E958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F6C542-AEFC-2A61-A6BD-1820AF0E24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3F001-F833-490D-EDCB-7249B76BE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98392-BA30-4F0D-AB9C-AC773AC62D0B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FEC2A-6FFB-4A80-1E63-BC0FFDCE5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6D09E-1A88-74EA-9FB5-04961F88B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FC1F5-9492-45B8-BD2B-BCC6C80EC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0712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7594CB-AA32-40FC-DC88-DCB54FB4D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3EC69F-6E69-BD7E-222F-DD412D7DB4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633DC-CF59-B2B3-E03D-E4F75ACFAF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E98392-BA30-4F0D-AB9C-AC773AC62D0B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1B149-1D11-20E4-D5D8-DD10FE7DCD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76441-B473-D52B-F78C-F9B3666600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EFC1F5-9492-45B8-BD2B-BCC6C80EC6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1954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99D78-DAA2-3EFE-A26A-D930FF5C18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2208"/>
            <a:ext cx="9144000" cy="2387600"/>
          </a:xfrm>
        </p:spPr>
        <p:txBody>
          <a:bodyPr/>
          <a:lstStyle/>
          <a:p>
            <a:r>
              <a:rPr lang="en-IN" b="1" i="1" dirty="0"/>
              <a:t>Kisan Sahayata Portal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BA8375-1150-58D8-A128-732E0BF59F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39534"/>
            <a:ext cx="9144000" cy="1655762"/>
          </a:xfrm>
        </p:spPr>
        <p:txBody>
          <a:bodyPr/>
          <a:lstStyle/>
          <a:p>
            <a:r>
              <a:rPr lang="en-US" i="1" dirty="0"/>
              <a:t>An Integrated Digital Support Platform for Farmers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BCBFBA-7DA1-2117-3F58-27922F051056}"/>
              </a:ext>
            </a:extLst>
          </p:cNvPr>
          <p:cNvSpPr txBox="1"/>
          <p:nvPr/>
        </p:nvSpPr>
        <p:spPr>
          <a:xfrm>
            <a:off x="5985883" y="3733631"/>
            <a:ext cx="50148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By: Kandhikonda Sai Rishitha (1602-24-737-100)</a:t>
            </a:r>
          </a:p>
          <a:p>
            <a:pPr algn="r"/>
            <a:r>
              <a:rPr lang="en-US" dirty="0"/>
              <a:t>		  J. Vaishali (1602-24-737-313)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0700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5E5A2-91A4-DE3E-11D1-DE7B01219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67E137-BC43-3A29-EFFF-24983FA7FC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Kisan </a:t>
            </a:r>
            <a:r>
              <a:rPr lang="en-US" dirty="0" err="1"/>
              <a:t>Sahayata</a:t>
            </a:r>
            <a:r>
              <a:rPr lang="en-US" dirty="0"/>
              <a:t> Portal is a digital solution designed to support farmers by integrating agricultural, financial, and market information in one platform.</a:t>
            </a:r>
          </a:p>
          <a:p>
            <a:pPr marL="0" indent="0">
              <a:buNone/>
            </a:pPr>
            <a:r>
              <a:rPr lang="en-US" dirty="0"/>
              <a:t>• Each farmer is assigned a </a:t>
            </a:r>
            <a:r>
              <a:rPr lang="en-US" b="1" dirty="0"/>
              <a:t>unique ID </a:t>
            </a:r>
            <a:r>
              <a:rPr lang="en-US" dirty="0"/>
              <a:t>to manage their land, crop, and loan data securely.</a:t>
            </a:r>
          </a:p>
          <a:p>
            <a:pPr marL="0" indent="0">
              <a:buNone/>
            </a:pPr>
            <a:r>
              <a:rPr lang="en-US" dirty="0"/>
              <a:t>• The portal bridges the gap between farmers, government schemes, and market trends — empowering them with timely decisions and better income opportunities.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2713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4A6E0-03CC-B877-78F4-8E678667B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Key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CEBD3-2D3F-5826-066D-0BF20B4AE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Farmer Registration and Login System with unique ID</a:t>
            </a:r>
          </a:p>
          <a:p>
            <a:pPr marL="0" indent="0">
              <a:buNone/>
            </a:pPr>
            <a:r>
              <a:rPr lang="en-US" dirty="0"/>
              <a:t>• Crop and Land Management with soil type and seasonal data</a:t>
            </a:r>
          </a:p>
          <a:p>
            <a:pPr marL="0" indent="0">
              <a:buNone/>
            </a:pPr>
            <a:r>
              <a:rPr lang="en-US" dirty="0"/>
              <a:t>• Market Price and Fertilizer Availability Dashboard for informed decision-making</a:t>
            </a:r>
          </a:p>
          <a:p>
            <a:pPr marL="0" indent="0">
              <a:buNone/>
            </a:pPr>
            <a:r>
              <a:rPr lang="en-US" dirty="0"/>
              <a:t>• Loan and Subsidies Modules with eligibility information</a:t>
            </a:r>
          </a:p>
          <a:p>
            <a:pPr marL="0" indent="0">
              <a:buNone/>
            </a:pPr>
            <a:r>
              <a:rPr lang="en-US" dirty="0"/>
              <a:t>• Files for secure data storage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2144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CCFA7E-9490-B7E1-8633-B60F4EE6B1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41" y="0"/>
            <a:ext cx="10287000" cy="6858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782D90-6151-AAE1-5ADD-31FB116ABCE0}"/>
              </a:ext>
            </a:extLst>
          </p:cNvPr>
          <p:cNvCxnSpPr>
            <a:cxnSpLocks/>
          </p:cNvCxnSpPr>
          <p:nvPr/>
        </p:nvCxnSpPr>
        <p:spPr>
          <a:xfrm>
            <a:off x="8741432" y="3761117"/>
            <a:ext cx="160451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4E14337-C3D0-292E-4C06-38110583AD57}"/>
              </a:ext>
            </a:extLst>
          </p:cNvPr>
          <p:cNvCxnSpPr>
            <a:cxnSpLocks/>
          </p:cNvCxnSpPr>
          <p:nvPr/>
        </p:nvCxnSpPr>
        <p:spPr>
          <a:xfrm>
            <a:off x="10345946" y="3761117"/>
            <a:ext cx="0" cy="4198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FAF98CE3-4A8D-54A3-DD92-F7C19FF3426A}"/>
              </a:ext>
            </a:extLst>
          </p:cNvPr>
          <p:cNvSpPr/>
          <p:nvPr/>
        </p:nvSpPr>
        <p:spPr>
          <a:xfrm>
            <a:off x="9724842" y="4169434"/>
            <a:ext cx="1351472" cy="46581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148379-92CE-911F-BA18-F702A10B0723}"/>
              </a:ext>
            </a:extLst>
          </p:cNvPr>
          <p:cNvSpPr txBox="1"/>
          <p:nvPr/>
        </p:nvSpPr>
        <p:spPr>
          <a:xfrm>
            <a:off x="9713349" y="4232694"/>
            <a:ext cx="150098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NOTIFICATIONS</a:t>
            </a:r>
            <a:endParaRPr lang="en-IN" sz="15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D160D0-C3C9-BB1D-84B4-73E64FD2FF15}"/>
              </a:ext>
            </a:extLst>
          </p:cNvPr>
          <p:cNvSpPr txBox="1"/>
          <p:nvPr/>
        </p:nvSpPr>
        <p:spPr>
          <a:xfrm>
            <a:off x="6363425" y="5236234"/>
            <a:ext cx="10610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CROP NAME&amp;</a:t>
            </a:r>
          </a:p>
          <a:p>
            <a:pPr algn="ctr"/>
            <a:r>
              <a:rPr lang="en-US" sz="1000" b="1" dirty="0"/>
              <a:t>SOIL TYPE</a:t>
            </a:r>
            <a:endParaRPr lang="en-IN" sz="10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4928EB-2FE5-758B-6E7E-9644B1231668}"/>
              </a:ext>
            </a:extLst>
          </p:cNvPr>
          <p:cNvSpPr txBox="1"/>
          <p:nvPr/>
        </p:nvSpPr>
        <p:spPr>
          <a:xfrm>
            <a:off x="6363424" y="6136257"/>
            <a:ext cx="10610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NO. OF DAYS TO HARVEST &amp; TIPS</a:t>
            </a:r>
          </a:p>
        </p:txBody>
      </p:sp>
    </p:spTree>
    <p:extLst>
      <p:ext uri="{BB962C8B-B14F-4D97-AF65-F5344CB8AC3E}">
        <p14:creationId xmlns:p14="http://schemas.microsoft.com/office/powerpoint/2010/main" val="1640951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E06FE-59E7-E021-1971-4C544EC1B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92" y="-117959"/>
            <a:ext cx="10515600" cy="1325563"/>
          </a:xfrm>
        </p:spPr>
        <p:txBody>
          <a:bodyPr/>
          <a:lstStyle/>
          <a:p>
            <a:r>
              <a:rPr lang="en-US" dirty="0"/>
              <a:t>CLASSES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957D5-951F-7019-C338-FEC909978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079" y="928470"/>
            <a:ext cx="11139578" cy="5420572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b="1" dirty="0"/>
              <a:t>Farmer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/>
              <a:t>(to store Farmer details)</a:t>
            </a:r>
          </a:p>
          <a:p>
            <a:pPr marL="0" indent="0">
              <a:buNone/>
            </a:pPr>
            <a:r>
              <a:rPr lang="en-IN" sz="1600" dirty="0"/>
              <a:t>String </a:t>
            </a:r>
            <a:r>
              <a:rPr lang="en-IN" sz="1600" dirty="0" err="1"/>
              <a:t>farmerID</a:t>
            </a:r>
            <a:r>
              <a:rPr lang="en-IN" sz="1600" dirty="0"/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600" dirty="0"/>
              <a:t>int age;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600" dirty="0"/>
              <a:t>String name, village, </a:t>
            </a:r>
            <a:r>
              <a:rPr lang="en-IN" sz="1600" dirty="0" err="1"/>
              <a:t>soilType</a:t>
            </a:r>
            <a:r>
              <a:rPr lang="en-IN" sz="1600" dirty="0"/>
              <a:t>, username, password;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600" dirty="0"/>
              <a:t>double </a:t>
            </a:r>
            <a:r>
              <a:rPr lang="en-IN" sz="1600" dirty="0" err="1"/>
              <a:t>landSize</a:t>
            </a:r>
            <a:r>
              <a:rPr lang="en-IN" sz="1600" dirty="0"/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600" dirty="0"/>
              <a:t>long </a:t>
            </a:r>
            <a:r>
              <a:rPr lang="en-IN" sz="1600" dirty="0" err="1"/>
              <a:t>aadharNum</a:t>
            </a:r>
            <a:r>
              <a:rPr lang="en-IN" sz="1600" dirty="0"/>
              <a:t>;</a:t>
            </a:r>
          </a:p>
          <a:p>
            <a:pPr marL="0" indent="0">
              <a:spcBef>
                <a:spcPts val="0"/>
              </a:spcBef>
              <a:buNone/>
            </a:pPr>
            <a:endParaRPr lang="en-IN" dirty="0"/>
          </a:p>
          <a:p>
            <a:pPr>
              <a:spcBef>
                <a:spcPts val="0"/>
              </a:spcBef>
            </a:pPr>
            <a:r>
              <a:rPr lang="en-IN" b="1" dirty="0" err="1"/>
              <a:t>AccessAndSaveFarmer</a:t>
            </a:r>
            <a:r>
              <a:rPr lang="en-IN" b="1" dirty="0"/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600" b="1" dirty="0"/>
              <a:t>(to access farmer details based on their ID, to save the modified/new farmer details, to generate unique ID for new farmers)</a:t>
            </a:r>
          </a:p>
          <a:p>
            <a:pPr marL="0" indent="0">
              <a:spcBef>
                <a:spcPts val="0"/>
              </a:spcBef>
              <a:buNone/>
            </a:pPr>
            <a:endParaRPr lang="en-IN" sz="1600" b="1" dirty="0"/>
          </a:p>
          <a:p>
            <a:pPr>
              <a:spcBef>
                <a:spcPts val="0"/>
              </a:spcBef>
            </a:pPr>
            <a:r>
              <a:rPr lang="en-IN" b="1" dirty="0"/>
              <a:t>Loan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600" b="1" dirty="0"/>
              <a:t>(to store the loan details)</a:t>
            </a:r>
          </a:p>
          <a:p>
            <a:pPr marL="0" indent="0">
              <a:spcBef>
                <a:spcPts val="0"/>
              </a:spcBef>
              <a:buNone/>
            </a:pPr>
            <a:endParaRPr lang="nb-NO" sz="900" dirty="0"/>
          </a:p>
          <a:p>
            <a:pPr marL="0" indent="0">
              <a:spcBef>
                <a:spcPts val="0"/>
              </a:spcBef>
              <a:buNone/>
            </a:pPr>
            <a:r>
              <a:rPr lang="nb-NO" sz="1600" dirty="0"/>
              <a:t>String loanId, loanName, eligibility, documents;</a:t>
            </a:r>
            <a:endParaRPr lang="en-IN" sz="1600" b="1" dirty="0"/>
          </a:p>
          <a:p>
            <a:pPr marL="0" indent="0">
              <a:spcBef>
                <a:spcPts val="0"/>
              </a:spcBef>
              <a:buNone/>
            </a:pPr>
            <a:endParaRPr lang="en-IN" sz="1600" b="1" dirty="0"/>
          </a:p>
          <a:p>
            <a:pPr>
              <a:spcBef>
                <a:spcPts val="0"/>
              </a:spcBef>
            </a:pPr>
            <a:r>
              <a:rPr lang="nb-NO" b="1" dirty="0"/>
              <a:t>LoanApplication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nb-NO" sz="1600" b="1" dirty="0"/>
              <a:t>(to store the loan application details of a farmer)</a:t>
            </a:r>
          </a:p>
          <a:p>
            <a:pPr marL="0" indent="0">
              <a:spcBef>
                <a:spcPts val="0"/>
              </a:spcBef>
              <a:buNone/>
            </a:pPr>
            <a:endParaRPr lang="nb-NO" sz="900" dirty="0"/>
          </a:p>
          <a:p>
            <a:pPr marL="0" indent="0">
              <a:spcBef>
                <a:spcPts val="0"/>
              </a:spcBef>
              <a:buNone/>
            </a:pPr>
            <a:r>
              <a:rPr lang="nb-NO" sz="1600" dirty="0"/>
              <a:t>String farmerId, LoanId, Status</a:t>
            </a:r>
          </a:p>
        </p:txBody>
      </p:sp>
    </p:spTree>
    <p:extLst>
      <p:ext uri="{BB962C8B-B14F-4D97-AF65-F5344CB8AC3E}">
        <p14:creationId xmlns:p14="http://schemas.microsoft.com/office/powerpoint/2010/main" val="2480102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5F070-EAD9-97E2-80FB-20697FD8C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C2DDA-B002-24EC-D4F3-C031ABF51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92" y="-117959"/>
            <a:ext cx="10515600" cy="1325563"/>
          </a:xfrm>
        </p:spPr>
        <p:txBody>
          <a:bodyPr/>
          <a:lstStyle/>
          <a:p>
            <a:r>
              <a:rPr lang="en-US" dirty="0"/>
              <a:t>CLASSES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28C4B-1DF2-815A-46A0-0D91EA946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079" y="928469"/>
            <a:ext cx="11139578" cy="5736873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</a:pPr>
            <a:r>
              <a:rPr lang="en-US" b="1" dirty="0" err="1"/>
              <a:t>ApplyAndSaveLoan</a:t>
            </a:r>
            <a:endParaRPr lang="en-US" b="1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/>
              <a:t>(to access the loan details, to apply a new loan and to save the loan applications)</a:t>
            </a:r>
          </a:p>
          <a:p>
            <a:pPr marL="0" indent="0">
              <a:spcBef>
                <a:spcPts val="0"/>
              </a:spcBef>
              <a:buNone/>
            </a:pPr>
            <a:endParaRPr lang="en-IN" dirty="0"/>
          </a:p>
          <a:p>
            <a:pPr>
              <a:spcBef>
                <a:spcPts val="0"/>
              </a:spcBef>
            </a:pPr>
            <a:r>
              <a:rPr lang="en-IN" b="1" dirty="0"/>
              <a:t>Notification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600" b="1" dirty="0"/>
              <a:t>(to store the generated notifications)</a:t>
            </a:r>
          </a:p>
          <a:p>
            <a:pPr marL="0" indent="0">
              <a:spcBef>
                <a:spcPts val="0"/>
              </a:spcBef>
              <a:buNone/>
            </a:pPr>
            <a:endParaRPr lang="en-IN" sz="1600" b="1" dirty="0"/>
          </a:p>
          <a:p>
            <a:pPr>
              <a:spcBef>
                <a:spcPts val="0"/>
              </a:spcBef>
            </a:pPr>
            <a:r>
              <a:rPr lang="en-IN" b="1" dirty="0" err="1"/>
              <a:t>LoanNotification</a:t>
            </a:r>
            <a:r>
              <a:rPr lang="en-IN" b="1" dirty="0"/>
              <a:t> extends Notification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600" b="1" dirty="0"/>
              <a:t>(to send the notification after a loan is applied)</a:t>
            </a:r>
          </a:p>
          <a:p>
            <a:pPr marL="0" indent="0">
              <a:spcBef>
                <a:spcPts val="0"/>
              </a:spcBef>
              <a:buNone/>
            </a:pPr>
            <a:endParaRPr lang="nb-NO" sz="900" dirty="0"/>
          </a:p>
          <a:p>
            <a:pPr marL="0" indent="0">
              <a:spcBef>
                <a:spcPts val="0"/>
              </a:spcBef>
              <a:buNone/>
            </a:pPr>
            <a:r>
              <a:rPr lang="nb-NO" sz="1600" dirty="0"/>
              <a:t>String loanId, loanName, eligibility, documents;</a:t>
            </a:r>
            <a:endParaRPr lang="en-IN" sz="1600" b="1" dirty="0"/>
          </a:p>
          <a:p>
            <a:pPr marL="0" indent="0">
              <a:spcBef>
                <a:spcPts val="0"/>
              </a:spcBef>
              <a:buNone/>
            </a:pPr>
            <a:endParaRPr lang="en-IN" sz="1600" b="1" dirty="0"/>
          </a:p>
          <a:p>
            <a:pPr>
              <a:spcBef>
                <a:spcPts val="0"/>
              </a:spcBef>
            </a:pPr>
            <a:r>
              <a:rPr lang="nb-NO" b="1" dirty="0"/>
              <a:t>NotificationManager</a:t>
            </a:r>
          </a:p>
          <a:p>
            <a:pPr marL="0" indent="0">
              <a:spcBef>
                <a:spcPts val="0"/>
              </a:spcBef>
              <a:buNone/>
            </a:pPr>
            <a:r>
              <a:rPr lang="nb-NO" sz="1600" b="1" dirty="0"/>
              <a:t>(to store and retrieve the previous notifications of the farmer)</a:t>
            </a:r>
          </a:p>
          <a:p>
            <a:pPr marL="0" indent="0">
              <a:spcBef>
                <a:spcPts val="0"/>
              </a:spcBef>
              <a:buNone/>
            </a:pPr>
            <a:endParaRPr lang="nb-NO" sz="900" dirty="0"/>
          </a:p>
          <a:p>
            <a:pPr marL="0" indent="0">
              <a:spcBef>
                <a:spcPts val="0"/>
              </a:spcBef>
              <a:buNone/>
            </a:pPr>
            <a:endParaRPr lang="nb-NO" sz="900" dirty="0"/>
          </a:p>
          <a:p>
            <a:pPr>
              <a:spcBef>
                <a:spcPts val="0"/>
              </a:spcBef>
            </a:pPr>
            <a:r>
              <a:rPr lang="en-IN" b="1" dirty="0" err="1"/>
              <a:t>NotificationThread</a:t>
            </a:r>
            <a:endParaRPr lang="en-IN" b="1" dirty="0"/>
          </a:p>
          <a:p>
            <a:pPr marL="0" indent="0">
              <a:spcBef>
                <a:spcPts val="0"/>
              </a:spcBef>
              <a:buNone/>
            </a:pPr>
            <a:r>
              <a:rPr lang="en-IN" sz="1600" b="1" dirty="0"/>
              <a:t>(to generate notifications of the loan and market price check using multi threaded programming)</a:t>
            </a:r>
          </a:p>
          <a:p>
            <a:pPr marL="0" indent="0">
              <a:spcBef>
                <a:spcPts val="0"/>
              </a:spcBef>
              <a:buNone/>
            </a:pPr>
            <a:endParaRPr lang="nb-NO" sz="900" dirty="0"/>
          </a:p>
          <a:p>
            <a:pPr marL="0" indent="0">
              <a:spcBef>
                <a:spcPts val="0"/>
              </a:spcBef>
              <a:buNone/>
            </a:pPr>
            <a:endParaRPr lang="nb-NO" sz="900" dirty="0"/>
          </a:p>
          <a:p>
            <a:pPr>
              <a:spcBef>
                <a:spcPts val="0"/>
              </a:spcBef>
            </a:pPr>
            <a:r>
              <a:rPr lang="en-IN" b="1" dirty="0" err="1"/>
              <a:t>MarketPrice</a:t>
            </a:r>
            <a:endParaRPr lang="en-IN" b="1" dirty="0"/>
          </a:p>
          <a:p>
            <a:pPr marL="0" indent="0">
              <a:spcBef>
                <a:spcPts val="0"/>
              </a:spcBef>
              <a:buNone/>
            </a:pPr>
            <a:r>
              <a:rPr lang="en-IN" sz="1600" b="1" dirty="0"/>
              <a:t>(to store the crop and its price per quintal)</a:t>
            </a:r>
          </a:p>
          <a:p>
            <a:pPr marL="0" indent="0">
              <a:spcBef>
                <a:spcPts val="0"/>
              </a:spcBef>
              <a:buNone/>
            </a:pPr>
            <a:endParaRPr lang="nb-NO" sz="900" dirty="0"/>
          </a:p>
          <a:p>
            <a:pPr marL="0" indent="0">
              <a:spcBef>
                <a:spcPts val="0"/>
              </a:spcBef>
              <a:buNone/>
            </a:pPr>
            <a:r>
              <a:rPr lang="nb-NO" sz="1400" dirty="0"/>
              <a:t>String crop;</a:t>
            </a:r>
          </a:p>
          <a:p>
            <a:pPr marL="0" indent="0">
              <a:spcBef>
                <a:spcPts val="0"/>
              </a:spcBef>
              <a:buNone/>
            </a:pPr>
            <a:r>
              <a:rPr lang="nb-NO" sz="1400" dirty="0"/>
              <a:t>double price</a:t>
            </a:r>
          </a:p>
        </p:txBody>
      </p:sp>
    </p:spTree>
    <p:extLst>
      <p:ext uri="{BB962C8B-B14F-4D97-AF65-F5344CB8AC3E}">
        <p14:creationId xmlns:p14="http://schemas.microsoft.com/office/powerpoint/2010/main" val="3769192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FCE28-ACEA-387F-7F68-4D8155F4C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DD9E4-EC09-736F-410D-F2011FCC9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92" y="-117959"/>
            <a:ext cx="10515600" cy="1325563"/>
          </a:xfrm>
        </p:spPr>
        <p:txBody>
          <a:bodyPr/>
          <a:lstStyle/>
          <a:p>
            <a:r>
              <a:rPr lang="en-US" dirty="0"/>
              <a:t>CLASSES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BECEF-D317-9A9D-3154-B8F27611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079" y="928470"/>
            <a:ext cx="11139578" cy="5420572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</a:pPr>
            <a:r>
              <a:rPr lang="en-US" b="1" dirty="0" err="1"/>
              <a:t>MarketPriceManager</a:t>
            </a:r>
            <a:endParaRPr lang="en-US" b="1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/>
              <a:t>(to save and retrieve the market prices of each crop)</a:t>
            </a:r>
          </a:p>
          <a:p>
            <a:pPr marL="0" indent="0">
              <a:spcBef>
                <a:spcPts val="0"/>
              </a:spcBef>
              <a:buNone/>
            </a:pPr>
            <a:endParaRPr lang="en-IN" sz="1600" dirty="0"/>
          </a:p>
          <a:p>
            <a:pPr>
              <a:spcBef>
                <a:spcPts val="0"/>
              </a:spcBef>
            </a:pPr>
            <a:r>
              <a:rPr lang="en-IN" b="1" dirty="0" err="1"/>
              <a:t>MarketPriceThread</a:t>
            </a:r>
            <a:endParaRPr lang="en-IN" b="1" dirty="0"/>
          </a:p>
          <a:p>
            <a:pPr marL="0" indent="0">
              <a:spcBef>
                <a:spcPts val="0"/>
              </a:spcBef>
              <a:buNone/>
            </a:pPr>
            <a:r>
              <a:rPr lang="en-IN" sz="1600" b="1" dirty="0"/>
              <a:t>(to update the price of each crop in the background using multi threaded programming)</a:t>
            </a:r>
          </a:p>
          <a:p>
            <a:pPr marL="0" indent="0">
              <a:spcBef>
                <a:spcPts val="0"/>
              </a:spcBef>
              <a:buNone/>
            </a:pPr>
            <a:endParaRPr lang="en-IN" sz="1600" b="1" dirty="0"/>
          </a:p>
          <a:p>
            <a:pPr>
              <a:spcBef>
                <a:spcPts val="0"/>
              </a:spcBef>
            </a:pPr>
            <a:r>
              <a:rPr lang="en-IN" b="1" dirty="0"/>
              <a:t>Crop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600" b="1" dirty="0"/>
              <a:t>(to store the crop details)</a:t>
            </a:r>
          </a:p>
          <a:p>
            <a:pPr marL="0" indent="0">
              <a:spcBef>
                <a:spcPts val="0"/>
              </a:spcBef>
              <a:buNone/>
            </a:pPr>
            <a:endParaRPr lang="nb-NO" sz="9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String name, season, fertilizer, tip;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int </a:t>
            </a:r>
            <a:r>
              <a:rPr lang="en-US" sz="1600" dirty="0" err="1"/>
              <a:t>daysToHarvest</a:t>
            </a:r>
            <a:r>
              <a:rPr lang="en-US" sz="1600" dirty="0"/>
              <a:t>;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  <a:p>
            <a:pPr>
              <a:spcBef>
                <a:spcPts val="0"/>
              </a:spcBef>
            </a:pPr>
            <a:r>
              <a:rPr lang="nb-NO" b="1" dirty="0"/>
              <a:t>RabiCrop extends Crop</a:t>
            </a:r>
          </a:p>
          <a:p>
            <a:pPr marL="0" indent="0">
              <a:spcBef>
                <a:spcPts val="0"/>
              </a:spcBef>
              <a:buNone/>
            </a:pPr>
            <a:r>
              <a:rPr lang="nb-NO" sz="1600" b="1" dirty="0"/>
              <a:t>(to store the Rabi Crops)</a:t>
            </a:r>
          </a:p>
          <a:p>
            <a:pPr marL="0" indent="0">
              <a:spcBef>
                <a:spcPts val="0"/>
              </a:spcBef>
              <a:buNone/>
            </a:pPr>
            <a:endParaRPr lang="nb-NO" sz="900" dirty="0"/>
          </a:p>
          <a:p>
            <a:pPr marL="0" indent="0">
              <a:spcBef>
                <a:spcPts val="0"/>
              </a:spcBef>
              <a:buNone/>
            </a:pPr>
            <a:endParaRPr lang="nb-NO" sz="900" dirty="0"/>
          </a:p>
          <a:p>
            <a:pPr>
              <a:spcBef>
                <a:spcPts val="0"/>
              </a:spcBef>
            </a:pPr>
            <a:r>
              <a:rPr lang="en-IN" b="1" dirty="0" err="1"/>
              <a:t>KharifCrop</a:t>
            </a:r>
            <a:r>
              <a:rPr lang="en-IN" b="1" dirty="0"/>
              <a:t> extends Crop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600" b="1" dirty="0"/>
              <a:t>(to store the Kharif Crops)</a:t>
            </a:r>
          </a:p>
          <a:p>
            <a:pPr marL="0" indent="0">
              <a:spcBef>
                <a:spcPts val="0"/>
              </a:spcBef>
              <a:buNone/>
            </a:pPr>
            <a:endParaRPr lang="nb-NO" sz="900" dirty="0"/>
          </a:p>
          <a:p>
            <a:pPr marL="0" indent="0">
              <a:spcBef>
                <a:spcPts val="0"/>
              </a:spcBef>
              <a:buNone/>
            </a:pPr>
            <a:endParaRPr lang="nb-NO" sz="900" dirty="0"/>
          </a:p>
          <a:p>
            <a:pPr>
              <a:spcBef>
                <a:spcPts val="0"/>
              </a:spcBef>
            </a:pPr>
            <a:r>
              <a:rPr lang="en-IN" b="1" dirty="0" err="1"/>
              <a:t>CropInfoManger</a:t>
            </a:r>
            <a:endParaRPr lang="en-IN" b="1" dirty="0"/>
          </a:p>
          <a:p>
            <a:pPr marL="0" indent="0">
              <a:spcBef>
                <a:spcPts val="0"/>
              </a:spcBef>
              <a:buNone/>
            </a:pPr>
            <a:r>
              <a:rPr lang="en-IN" sz="1600" b="1" dirty="0"/>
              <a:t>(gives all the crop details along with its current price)</a:t>
            </a:r>
          </a:p>
          <a:p>
            <a:pPr marL="0" indent="0">
              <a:spcBef>
                <a:spcPts val="0"/>
              </a:spcBef>
              <a:buNone/>
            </a:pPr>
            <a:endParaRPr lang="en-IN" sz="1600" b="1" dirty="0"/>
          </a:p>
          <a:p>
            <a:pPr>
              <a:spcBef>
                <a:spcPts val="0"/>
              </a:spcBef>
            </a:pPr>
            <a:r>
              <a:rPr lang="en-IN" b="1" dirty="0"/>
              <a:t>Classes for GUI of </a:t>
            </a:r>
            <a:r>
              <a:rPr lang="en-IN" b="1"/>
              <a:t>each feature</a:t>
            </a:r>
            <a:endParaRPr lang="en-IN" b="1" dirty="0"/>
          </a:p>
          <a:p>
            <a:pPr marL="0" indent="0">
              <a:spcBef>
                <a:spcPts val="0"/>
              </a:spcBef>
              <a:buNone/>
            </a:pPr>
            <a:endParaRPr lang="nb-NO" sz="900" dirty="0"/>
          </a:p>
        </p:txBody>
      </p:sp>
    </p:spTree>
    <p:extLst>
      <p:ext uri="{BB962C8B-B14F-4D97-AF65-F5344CB8AC3E}">
        <p14:creationId xmlns:p14="http://schemas.microsoft.com/office/powerpoint/2010/main" val="3925387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898FD-AAB8-6DA4-9968-461D4FE5C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Advanced Add-ons and Future Enhancements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105026-2F88-CF8E-FC40-2AB3F7F600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Weather and Climate API Integration to provide crop and irrigation alerts</a:t>
            </a:r>
          </a:p>
          <a:p>
            <a:pPr marL="0" indent="0">
              <a:buNone/>
            </a:pPr>
            <a:r>
              <a:rPr lang="en-US" dirty="0"/>
              <a:t>• Soil Health Reports and Smart Crop Recommendations</a:t>
            </a:r>
          </a:p>
          <a:p>
            <a:pPr marL="0" indent="0">
              <a:buNone/>
            </a:pPr>
            <a:r>
              <a:rPr lang="en-US" dirty="0"/>
              <a:t>• Predictive Yield Analytics based on past data and rainfall</a:t>
            </a:r>
          </a:p>
          <a:p>
            <a:pPr marL="0" indent="0">
              <a:buNone/>
            </a:pPr>
            <a:r>
              <a:rPr lang="en-US" dirty="0"/>
              <a:t>• Marketplace Integration to connect farmers directly with buyers</a:t>
            </a:r>
          </a:p>
          <a:p>
            <a:pPr marL="0" indent="0">
              <a:buNone/>
            </a:pPr>
            <a:r>
              <a:rPr lang="en-US" dirty="0"/>
              <a:t>• Data Privacy improvement</a:t>
            </a:r>
          </a:p>
          <a:p>
            <a:pPr marL="0" indent="0">
              <a:buNone/>
            </a:pPr>
            <a:r>
              <a:rPr lang="en-US" dirty="0"/>
              <a:t>• Sustainability Index for tracking water usage and eco-friendly practices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4018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AD128-9C08-8332-9ECD-7307B2F81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59FB3-A49C-3423-00A8-E7040040F7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• Kisan </a:t>
            </a:r>
            <a:r>
              <a:rPr lang="en-US" dirty="0" err="1"/>
              <a:t>Sahayata</a:t>
            </a:r>
            <a:r>
              <a:rPr lang="en-US" dirty="0"/>
              <a:t> Portal aims to digitally empower farmers through data-driven insights and easy access to government and market resources.</a:t>
            </a:r>
          </a:p>
          <a:p>
            <a:pPr marL="0" indent="0">
              <a:buNone/>
            </a:pPr>
            <a:r>
              <a:rPr lang="en-US" dirty="0"/>
              <a:t>• The project showcases the application of Object-Oriented Programming concepts in Java through a real-world use case.</a:t>
            </a:r>
          </a:p>
          <a:p>
            <a:pPr marL="0" indent="0">
              <a:buNone/>
            </a:pPr>
            <a:r>
              <a:rPr lang="en-US" dirty="0"/>
              <a:t>• Future enhancements can expand the portal into a complete digital ecosystem integrated with national initiatives like </a:t>
            </a:r>
            <a:r>
              <a:rPr lang="en-US" dirty="0" err="1"/>
              <a:t>AgriStack</a:t>
            </a:r>
            <a:r>
              <a:rPr lang="en-US" dirty="0"/>
              <a:t> and </a:t>
            </a:r>
            <a:r>
              <a:rPr lang="en-US" dirty="0" err="1"/>
              <a:t>eNAM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“Technology for Empowered Agriculture”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5706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</TotalTime>
  <Words>567</Words>
  <Application>Microsoft Office PowerPoint</Application>
  <PresentationFormat>Widescreen</PresentationFormat>
  <Paragraphs>102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Kisan Sahayata Portal</vt:lpstr>
      <vt:lpstr>Introduction</vt:lpstr>
      <vt:lpstr>Key Features</vt:lpstr>
      <vt:lpstr>PowerPoint Presentation</vt:lpstr>
      <vt:lpstr>CLASSES</vt:lpstr>
      <vt:lpstr>CLASSES</vt:lpstr>
      <vt:lpstr>CLASSES</vt:lpstr>
      <vt:lpstr>Advanced Add-ons and Future Enhancements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Rishitha</dc:creator>
  <cp:lastModifiedBy>Sai Rishitha</cp:lastModifiedBy>
  <cp:revision>2</cp:revision>
  <dcterms:created xsi:type="dcterms:W3CDTF">2025-11-05T20:59:17Z</dcterms:created>
  <dcterms:modified xsi:type="dcterms:W3CDTF">2025-12-03T16:54:19Z</dcterms:modified>
</cp:coreProperties>
</file>